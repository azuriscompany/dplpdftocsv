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eague Spartan" charset="1" panose="00000800000000000000"/>
      <p:regular r:id="rId22"/>
    </p:embeddedFont>
    <p:embeddedFont>
      <p:font typeface="Cooper Hewitt Bold" charset="1" panose="00000000000000000000"/>
      <p:regular r:id="rId23"/>
    </p:embeddedFont>
    <p:embeddedFont>
      <p:font typeface="DM Sans Bold" charset="1" panose="00000000000000000000"/>
      <p:regular r:id="rId24"/>
    </p:embeddedFont>
    <p:embeddedFont>
      <p:font typeface="Cooper Hewitt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10288"/>
            <a:ext cx="5209718" cy="616569"/>
            <a:chOff x="0" y="0"/>
            <a:chExt cx="1372107" cy="1623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2107" cy="162388"/>
            </a:xfrm>
            <a:custGeom>
              <a:avLst/>
              <a:gdLst/>
              <a:ahLst/>
              <a:cxnLst/>
              <a:rect r="r" b="b" t="t" l="l"/>
              <a:pathLst>
                <a:path h="162388" w="1372107">
                  <a:moveTo>
                    <a:pt x="0" y="0"/>
                  </a:moveTo>
                  <a:lnTo>
                    <a:pt x="1372107" y="0"/>
                  </a:lnTo>
                  <a:lnTo>
                    <a:pt x="1372107" y="162388"/>
                  </a:lnTo>
                  <a:lnTo>
                    <a:pt x="0" y="1623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72107" cy="190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97246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3" y="0"/>
                </a:lnTo>
                <a:lnTo>
                  <a:pt x="5778063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223459"/>
            <a:ext cx="7333201" cy="225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FILTRAR OS DADOS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556647"/>
            <a:ext cx="7333201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700" spc="324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PARA CRIAÇÃO DE TABELAS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277590"/>
            <a:ext cx="5209718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b="true" sz="2700" spc="515">
                <a:solidFill>
                  <a:srgbClr val="0E1027"/>
                </a:solidFill>
                <a:latin typeface="DM Sans Bold"/>
                <a:ea typeface="DM Sans Bold"/>
                <a:cs typeface="DM Sans Bold"/>
                <a:sym typeface="DM Sans Bold"/>
              </a:rPr>
              <a:t>UM GUIA DE COMO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3009" y="738662"/>
            <a:ext cx="3276914" cy="38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b="true" sz="1998" spc="38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AZURIS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3009" y="1033969"/>
            <a:ext cx="3276914" cy="38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1998" spc="777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COMPANY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59771" y="3339187"/>
            <a:ext cx="10053262" cy="4473702"/>
          </a:xfrm>
          <a:custGeom>
            <a:avLst/>
            <a:gdLst/>
            <a:ahLst/>
            <a:cxnLst/>
            <a:rect r="r" b="b" t="t" l="l"/>
            <a:pathLst>
              <a:path h="4473702" w="10053262">
                <a:moveTo>
                  <a:pt x="0" y="0"/>
                </a:moveTo>
                <a:lnTo>
                  <a:pt x="10053262" y="0"/>
                </a:lnTo>
                <a:lnTo>
                  <a:pt x="10053262" y="4473702"/>
                </a:lnTo>
                <a:lnTo>
                  <a:pt x="0" y="4473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1130" y="535855"/>
            <a:ext cx="8460476" cy="225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 QUE É O SISTEMA?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1130" y="4073980"/>
            <a:ext cx="7333201" cy="326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É uma pipeline de engenharia de dados responsável por t</a:t>
            </a: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ransformar portfólios em PDF (não estruturados) em dados estruturados no formato CSV, prontos para ingestão em ambiente analítico (ClickHouse / GAIO).</a:t>
            </a:r>
          </a:p>
          <a:p>
            <a:pPr algn="l">
              <a:lnSpc>
                <a:spcPts val="364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1130" y="535855"/>
            <a:ext cx="10628500" cy="225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POR QUE O SISTEMA FOI CRIADO?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1130" y="4073980"/>
            <a:ext cx="7333201" cy="417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Os currículos exportados do LinkedIn são documentos textuais livres. Sem estrutu</a:t>
            </a: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ração, não é possível realizar consultas SQL, gerar dashboards ou cruzar dados com bases internas. O sistema automatiza esse processo reduzindo erros manuais e padronizando o modelo de dados.</a:t>
            </a:r>
          </a:p>
          <a:p>
            <a:pPr algn="l">
              <a:lnSpc>
                <a:spcPts val="364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1130" y="535855"/>
            <a:ext cx="10628500" cy="225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O SISTEMA FUNCIONA?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1130" y="3742139"/>
            <a:ext cx="7333201" cy="463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O sistema opera em três etapas desacopladas:</a:t>
            </a:r>
          </a:p>
          <a:p>
            <a:pPr algn="l">
              <a:lnSpc>
                <a:spcPts val="3645"/>
              </a:lnSpc>
            </a:pP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 1 - Ext</a:t>
            </a: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ração de PDF → TXT</a:t>
            </a:r>
          </a:p>
          <a:p>
            <a:pPr algn="l">
              <a:lnSpc>
                <a:spcPts val="3645"/>
              </a:lnSpc>
            </a:pP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 2 - Organização e validação em lote</a:t>
            </a:r>
          </a:p>
          <a:p>
            <a:pPr algn="l">
              <a:lnSpc>
                <a:spcPts val="3645"/>
              </a:lnSpc>
            </a:pP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 3 - Estruturação TXT → CSV com enriquecimento via OpenAI</a:t>
            </a:r>
          </a:p>
          <a:p>
            <a:pPr algn="l">
              <a:lnSpc>
                <a:spcPts val="364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17285" y="1336623"/>
            <a:ext cx="5953821" cy="7772151"/>
          </a:xfrm>
          <a:custGeom>
            <a:avLst/>
            <a:gdLst/>
            <a:ahLst/>
            <a:cxnLst/>
            <a:rect r="r" b="b" t="t" l="l"/>
            <a:pathLst>
              <a:path h="7772151" w="5953821">
                <a:moveTo>
                  <a:pt x="0" y="0"/>
                </a:moveTo>
                <a:lnTo>
                  <a:pt x="5953822" y="0"/>
                </a:lnTo>
                <a:lnTo>
                  <a:pt x="5953822" y="7772151"/>
                </a:lnTo>
                <a:lnTo>
                  <a:pt x="0" y="7772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1130" y="535855"/>
            <a:ext cx="8460476" cy="225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ESTRUTURAÇÃO DE ARQUIVOS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1761" y="2680250"/>
            <a:ext cx="7333201" cy="600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Nessa estrutura de arquivos, podemos separar, onde vai cada arquivo, ou script. na pasta data/ é onde separamos nossos arquivos. </a:t>
            </a:r>
          </a:p>
          <a:p>
            <a:pPr algn="l">
              <a:lnSpc>
                <a:spcPts val="3645"/>
              </a:lnSpc>
            </a:pP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data/</a:t>
            </a: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     raw_pdfs - pdf’s a processar</a:t>
            </a: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     comp_pdfs - pdf’s processados</a:t>
            </a: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     quarantine - pdf’s com erros</a:t>
            </a: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     txt - txt gerados a partir do pdf</a:t>
            </a: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     logs - logs por pdf</a:t>
            </a: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     cache - arquivo jsonl do main.py</a:t>
            </a: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     output - CSV finais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3692" y="930502"/>
            <a:ext cx="8978046" cy="338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DEPENDÊNCIAS E CONFIGURAÇÃO DO AMBIENTE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3692" y="4646783"/>
            <a:ext cx="9846163" cy="384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Python 3.7+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Bibliotecas: PyPDF2, pandas, pydantic e openai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O arquivo Main.py exige uma chave API da OPENAI válida, e define OPENAI_MODEL</a:t>
            </a:r>
          </a:p>
          <a:p>
            <a:pPr algn="l">
              <a:lnSpc>
                <a:spcPts val="3781"/>
              </a:lnSpc>
            </a:pP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No terminal, use essa linha de comando para instalações</a:t>
            </a:r>
          </a:p>
          <a:p>
            <a:pPr algn="l" marL="1209536" indent="-403179" lvl="2">
              <a:lnSpc>
                <a:spcPts val="3781"/>
              </a:lnSpc>
              <a:buFont typeface="Arial"/>
              <a:buChar char="⚬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pip install -r requirements.txt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54000" y="1894153"/>
            <a:ext cx="6005300" cy="6498693"/>
          </a:xfrm>
          <a:custGeom>
            <a:avLst/>
            <a:gdLst/>
            <a:ahLst/>
            <a:cxnLst/>
            <a:rect r="r" b="b" t="t" l="l"/>
            <a:pathLst>
              <a:path h="6498693" w="6005300">
                <a:moveTo>
                  <a:pt x="0" y="0"/>
                </a:moveTo>
                <a:lnTo>
                  <a:pt x="6005300" y="0"/>
                </a:lnTo>
                <a:lnTo>
                  <a:pt x="6005300" y="6498694"/>
                </a:lnTo>
                <a:lnTo>
                  <a:pt x="0" y="6498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2698" y="1066800"/>
            <a:ext cx="9074048" cy="113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 spc="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PRIMEIRA ETAPA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2698" y="2768917"/>
            <a:ext cx="8746977" cy="554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Recebe --input e --output via argparse</a:t>
            </a:r>
          </a:p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Cria logger dedicado em data/logs/{pdf}_{YYYYMMDD_HHMMSS}.log</a:t>
            </a:r>
          </a:p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Realiza a leitura do PDF com o PyPDF2.PdfReader e concatena page.extract_text() de cada página</a:t>
            </a:r>
          </a:p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Se não houver texto retorna status=1, caso contrario grava {pdf}.txt em data/txt/ e retorna status=0</a:t>
            </a:r>
          </a:p>
          <a:p>
            <a:pPr algn="l">
              <a:lnSpc>
                <a:spcPts val="3645"/>
              </a:lnSpc>
            </a:pP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No terminal: python src/pdf_to_txt.py --input data/raw_pdfs/candidato.pdf --output data/txt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2698" y="1884362"/>
            <a:ext cx="7875372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PDF → TXT (src/pdf_to_txt.py)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2250" y="1843803"/>
            <a:ext cx="7649730" cy="6932567"/>
          </a:xfrm>
          <a:custGeom>
            <a:avLst/>
            <a:gdLst/>
            <a:ahLst/>
            <a:cxnLst/>
            <a:rect r="r" b="b" t="t" l="l"/>
            <a:pathLst>
              <a:path h="6932567" w="7649730">
                <a:moveTo>
                  <a:pt x="0" y="0"/>
                </a:moveTo>
                <a:lnTo>
                  <a:pt x="7649730" y="0"/>
                </a:lnTo>
                <a:lnTo>
                  <a:pt x="7649730" y="6932568"/>
                </a:lnTo>
                <a:lnTo>
                  <a:pt x="0" y="6932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2698" y="1066800"/>
            <a:ext cx="9264548" cy="113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 spc="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SEGUNDA ETAPA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2698" y="1884362"/>
            <a:ext cx="9074048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Lote e Organização (src/batch_processor.py)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2698" y="3191805"/>
            <a:ext cx="8746977" cy="463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Varre data/raw_pdfs/*.pdf</a:t>
            </a:r>
          </a:p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Para cada PDF, executa pdf_to_txt.py via subprocess.run([sys.executable, ...])</a:t>
            </a:r>
          </a:p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se returncode==0, move para data/comp_pdfs, caso contrario, move para data/quarantine</a:t>
            </a:r>
          </a:p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Garantia: cria as pastas comp_pdfs, quarantine e txt caso elas não existam</a:t>
            </a:r>
          </a:p>
          <a:p>
            <a:pPr algn="l">
              <a:lnSpc>
                <a:spcPts val="3645"/>
              </a:lnSpc>
            </a:pP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No terminal: python src/batch_processor.py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80820" y="1588140"/>
            <a:ext cx="6432900" cy="7110720"/>
          </a:xfrm>
          <a:custGeom>
            <a:avLst/>
            <a:gdLst/>
            <a:ahLst/>
            <a:cxnLst/>
            <a:rect r="r" b="b" t="t" l="l"/>
            <a:pathLst>
              <a:path h="7110720" w="6432900">
                <a:moveTo>
                  <a:pt x="0" y="0"/>
                </a:moveTo>
                <a:lnTo>
                  <a:pt x="6432900" y="0"/>
                </a:lnTo>
                <a:lnTo>
                  <a:pt x="6432900" y="7110720"/>
                </a:lnTo>
                <a:lnTo>
                  <a:pt x="0" y="7110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2698" y="1066800"/>
            <a:ext cx="9264548" cy="113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 spc="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TERCEIRA ETAPA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2698" y="1884362"/>
            <a:ext cx="9074048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TXT → CSV + enriquecimento (main.py)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2698" y="3191805"/>
            <a:ext cx="9800224" cy="463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Objetivo: consolidar 1 linha por TXT e preencher campos com máxima confiabilidade, chamando OpenAI apenas quando necessário.</a:t>
            </a:r>
          </a:p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Preparação</a:t>
            </a:r>
          </a:p>
          <a:p>
            <a:pPr algn="l" marL="1165860" indent="-388620" lvl="2">
              <a:lnSpc>
                <a:spcPts val="3645"/>
              </a:lnSpc>
              <a:buFont typeface="Arial"/>
              <a:buChar char="⚬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Detecta BASE_DIR (data ou Data), cria data/output/ e data/cache/</a:t>
            </a:r>
          </a:p>
          <a:p>
            <a:pPr algn="l" marL="1165860" indent="-388620" lvl="2">
              <a:lnSpc>
                <a:spcPts val="3645"/>
              </a:lnSpc>
              <a:buFont typeface="Arial"/>
              <a:buChar char="⚬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Lista TXTs em data/txt/*.txt; se não existir, aborta com diagnóstico</a:t>
            </a:r>
          </a:p>
          <a:p>
            <a:pPr algn="l" marL="1165860" indent="-388620" lvl="2">
              <a:lnSpc>
                <a:spcPts val="3645"/>
              </a:lnSpc>
              <a:buFont typeface="Arial"/>
              <a:buChar char="⚬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Carrega cache.jsonl (append-only) para reaproveitar resultados por SHA1 do texto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666" y="3095676"/>
            <a:ext cx="17706667" cy="554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Processamento por TXT (Pipeline): </a:t>
            </a:r>
          </a:p>
          <a:p>
            <a:pPr algn="l">
              <a:lnSpc>
                <a:spcPts val="3645"/>
              </a:lnSpc>
            </a:pPr>
          </a:p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Cache: se SHA1 existe no cache, usa Participant do cache (cache hit).</a:t>
            </a:r>
          </a:p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Parse KV: tenta extrair linhas 'campo: valor' (normalize_key + parse_kv)</a:t>
            </a:r>
          </a:p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OpenAI (condicional): se faltar nome+linkedin+empresa_atual+cargo+headline, chama responses.parse com schema Participant.</a:t>
            </a:r>
          </a:p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Registro: gera um arquivo .csv no caminho data/output/{arquivo}.csv</a:t>
            </a:r>
          </a:p>
          <a:p>
            <a:pPr algn="l">
              <a:lnSpc>
                <a:spcPts val="3645"/>
              </a:lnSpc>
            </a:pPr>
          </a:p>
          <a:p>
            <a:pPr algn="l" marL="582930" indent="-291465" lvl="1">
              <a:lnSpc>
                <a:spcPts val="3645"/>
              </a:lnSpc>
              <a:buFont typeface="Arial"/>
              <a:buChar char="•"/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Arquivos finais: data/output/{arquivo}.csv – colunas do Participant — auditoria do LinkedIn (linkedin_txt, linkedin_norm, status, email_final, telefone_final).</a:t>
            </a:r>
          </a:p>
          <a:p>
            <a:pPr algn="l">
              <a:lnSpc>
                <a:spcPts val="3645"/>
              </a:lnSpc>
            </a:pPr>
          </a:p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No terminal: python main.py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2698" y="1066800"/>
            <a:ext cx="9264548" cy="113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 spc="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TERCEIRA ETAPA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2698" y="1884362"/>
            <a:ext cx="9074048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 spc="324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TXT → CSV + enriquecimento (main.py)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2698" y="1066800"/>
            <a:ext cx="9795492" cy="225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 spc="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QUAL CONTEUDO É TRATADO?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2698" y="4152957"/>
            <a:ext cx="9846163" cy="384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Nome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Email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Telefone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Linked-in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Empresa_Atual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Cargo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Headline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Arquivo_Origem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2698" y="1066800"/>
            <a:ext cx="12848424" cy="225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 spc="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O TRATAMENTO É REALIZADO?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2698" y="3514955"/>
            <a:ext cx="9846163" cy="574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Estratégia 01 - Parse KV (Sem custo).</a:t>
            </a:r>
          </a:p>
          <a:p>
            <a:pPr algn="l">
              <a:lnSpc>
                <a:spcPts val="3781"/>
              </a:lnSpc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Se o TXT já estiver estruturado em formato chave:valor, a extração é direta.</a:t>
            </a:r>
          </a:p>
          <a:p>
            <a:pPr algn="l">
              <a:lnSpc>
                <a:spcPts val="3781"/>
              </a:lnSpc>
            </a:pPr>
          </a:p>
          <a:p>
            <a:pPr algn="l">
              <a:lnSpc>
                <a:spcPts val="3781"/>
              </a:lnSpc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Estratégia 02 - OpenAI</a:t>
            </a:r>
          </a:p>
          <a:p>
            <a:pPr algn="l">
              <a:lnSpc>
                <a:spcPts val="3781"/>
              </a:lnSpc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Se o conteúdo estiver em texto livre, o modelo estrutura os dados automaticamente.</a:t>
            </a:r>
          </a:p>
          <a:p>
            <a:pPr algn="l">
              <a:lnSpc>
                <a:spcPts val="3781"/>
              </a:lnSpc>
            </a:pPr>
          </a:p>
          <a:p>
            <a:pPr algn="l">
              <a:lnSpc>
                <a:spcPts val="3781"/>
              </a:lnSpc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Além disso: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Normalização de LinkedIn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Match exato com database.csv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Cache por hash SHA1 (evita reprocessamento)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2698" y="1066800"/>
            <a:ext cx="12848424" cy="225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 spc="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QUAL MODELO DE DADOS É GERADO?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2698" y="3514955"/>
            <a:ext cx="9846163" cy="2897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O sistema gera um CSV tabular com uma linha por participante.</a:t>
            </a:r>
          </a:p>
          <a:p>
            <a:pPr algn="l">
              <a:lnSpc>
                <a:spcPts val="3781"/>
              </a:lnSpc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Exemplo de estrutura:</a:t>
            </a:r>
          </a:p>
          <a:p>
            <a:pPr algn="l">
              <a:lnSpc>
                <a:spcPts val="3781"/>
              </a:lnSpc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 Nome,Email,Telefone,LinkedIn,Empresa_Atual,Cargo,Headline,Arquivo_Origem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2698" y="1066800"/>
            <a:ext cx="14795221" cy="225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 spc="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OS DADOS SÃO APRESENTADOS NO GAIO?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2698" y="3514955"/>
            <a:ext cx="9846163" cy="669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Após ingestão no ClickHouse, os dados podem ser explorados no GAIO através de: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Data Sources — conexão com banco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Tables — visualização da tabela participantes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SQL Editor — consultas analíticas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Dashboard — criação de gráficos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Chart Builder — definição de métricas e dimensões</a:t>
            </a:r>
          </a:p>
          <a:p>
            <a:pPr algn="l">
              <a:lnSpc>
                <a:spcPts val="3781"/>
              </a:lnSpc>
            </a:pPr>
          </a:p>
          <a:p>
            <a:pPr algn="l">
              <a:lnSpc>
                <a:spcPts val="3781"/>
              </a:lnSpc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Exemplos de gráficos: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Participantes por Empresa (Bar Chart)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Distribuição por Cargo (Pie Chart)</a:t>
            </a:r>
          </a:p>
          <a:p>
            <a:pPr algn="l" marL="604768" indent="-302384" lvl="1">
              <a:lnSpc>
                <a:spcPts val="3781"/>
              </a:lnSpc>
              <a:buFont typeface="Arial"/>
              <a:buChar char="•"/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Segmentação por nível hierárquico</a:t>
            </a:r>
          </a:p>
          <a:p>
            <a:pPr algn="l">
              <a:lnSpc>
                <a:spcPts val="3781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0699" y="6278695"/>
            <a:ext cx="16326602" cy="2979605"/>
          </a:xfrm>
          <a:custGeom>
            <a:avLst/>
            <a:gdLst/>
            <a:ahLst/>
            <a:cxnLst/>
            <a:rect r="r" b="b" t="t" l="l"/>
            <a:pathLst>
              <a:path h="2979605" w="16326602">
                <a:moveTo>
                  <a:pt x="0" y="0"/>
                </a:moveTo>
                <a:lnTo>
                  <a:pt x="16326602" y="0"/>
                </a:lnTo>
                <a:lnTo>
                  <a:pt x="16326602" y="2979605"/>
                </a:lnTo>
                <a:lnTo>
                  <a:pt x="0" y="2979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2698" y="1066800"/>
            <a:ext cx="9574266" cy="225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 spc="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PIPELINE DENTRO DO GAIO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2698" y="3514955"/>
            <a:ext cx="9846163" cy="147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Este é um pipeline usado para filtrar a quantidade de pessoas por cada estado baseado no DDD do seu numero de telefone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9779" y="5143500"/>
            <a:ext cx="15748442" cy="4665476"/>
          </a:xfrm>
          <a:custGeom>
            <a:avLst/>
            <a:gdLst/>
            <a:ahLst/>
            <a:cxnLst/>
            <a:rect r="r" b="b" t="t" l="l"/>
            <a:pathLst>
              <a:path h="4665476" w="15748442">
                <a:moveTo>
                  <a:pt x="0" y="0"/>
                </a:moveTo>
                <a:lnTo>
                  <a:pt x="15748442" y="0"/>
                </a:lnTo>
                <a:lnTo>
                  <a:pt x="15748442" y="4665476"/>
                </a:lnTo>
                <a:lnTo>
                  <a:pt x="0" y="4665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2698" y="1066800"/>
            <a:ext cx="9861861" cy="225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</a:pPr>
            <a:r>
              <a:rPr lang="en-US" sz="7699" spc="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GRÁFICOS DENTRO DO GAIO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2698" y="3514955"/>
            <a:ext cx="11129279" cy="147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801" spc="336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Após a criação do Pipeline, temos nosso resultado final, que é um gráfico em barras, listando a quantidade de pessoas por estado, baseado em seu DDD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DAHCO46tErQ</dc:identifier>
  <dcterms:modified xsi:type="dcterms:W3CDTF">2011-08-01T06:04:30Z</dcterms:modified>
  <cp:revision>1</cp:revision>
  <dc:title>Apresentação Filtro de Dados</dc:title>
</cp:coreProperties>
</file>